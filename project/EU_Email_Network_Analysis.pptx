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Networks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 Email Network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Large European Research Institution</a:t>
            </a:r>
          </a:p>
          <a:p>
            <a:pPr>
              <a:defRPr sz="2000"/>
            </a:pPr>
            <a:r>
              <a:t>Timeframe: October 2003 – May 2005 (18 Months)</a:t>
            </a:r>
          </a:p>
          <a:p>
            <a:pPr>
              <a:defRPr sz="2000"/>
            </a:pPr>
            <a:r>
              <a:t>Structure: Directed Graph (Edge i → j if i sent email to j)</a:t>
            </a:r>
          </a:p>
          <a:p>
            <a:pPr>
              <a:defRPr sz="2000"/>
            </a:pPr>
            <a:r>
              <a:t> </a:t>
            </a:r>
          </a:p>
          <a:p>
            <a:pPr>
              <a:defRPr sz="2000"/>
            </a:pPr>
            <a:r>
              <a:t>--- Key Statistics ---</a:t>
            </a:r>
          </a:p>
          <a:p>
            <a:pPr>
              <a:defRPr sz="2000"/>
            </a:pPr>
            <a:r>
              <a:t>Nodes (Email Addresses): 265,214</a:t>
            </a:r>
          </a:p>
          <a:p>
            <a:pPr>
              <a:defRPr sz="2000"/>
            </a:pPr>
            <a:r>
              <a:t>Edges (Sent Emails): 420,045</a:t>
            </a:r>
          </a:p>
          <a:p>
            <a:pPr>
              <a:defRPr sz="2000"/>
            </a:pPr>
            <a:r>
              <a:t>Avg Clustering Coefficient: 0.067</a:t>
            </a:r>
          </a:p>
          <a:p>
            <a:pPr>
              <a:defRPr sz="2000"/>
            </a:pPr>
            <a:r>
              <a:t>Reciprocity: Only ~13% of nodes are in the largest Strongly Connected Component (SCC)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Senders vs. Top Receivers</a:t>
            </a:r>
          </a:p>
        </p:txBody>
      </p:sp>
      <p:pic>
        <p:nvPicPr>
          <p:cNvPr id="3" name="Picture 2" descr="senders_vs_rece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972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OBSERVATION:</a:t>
            </a:r>
          </a:p>
          <a:p>
            <a:pPr>
              <a:defRPr sz="1600"/>
            </a:pPr>
            <a:r>
              <a:t>We separated 'Broadcasters' (Senders) from 'Authorities' (Receivers).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Top Senders:</a:t>
            </a:r>
          </a:p>
          <a:p>
            <a:pPr>
              <a:defRPr sz="1600"/>
            </a:pPr>
            <a:r>
              <a:t>- High Out-Degree</a:t>
            </a:r>
          </a:p>
          <a:p>
            <a:pPr>
              <a:defRPr sz="1600"/>
            </a:pPr>
            <a:r>
              <a:t>- Likely automated systems or announcements.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Top Receivers:</a:t>
            </a:r>
          </a:p>
          <a:p>
            <a:pPr>
              <a:defRPr sz="1600"/>
            </a:pPr>
            <a:r>
              <a:t>- High In-Degree</a:t>
            </a:r>
          </a:p>
          <a:p>
            <a:pPr>
              <a:defRPr sz="1600"/>
            </a:pPr>
            <a:r>
              <a:t>- Likely Managers or Helpdesk.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Influence Analysis (PageRank)</a:t>
            </a:r>
          </a:p>
        </p:txBody>
      </p:sp>
      <p:pic>
        <p:nvPicPr>
          <p:cNvPr id="3" name="Picture 2" descr="pagerank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WHAT IS PAGERANK?</a:t>
            </a:r>
          </a:p>
          <a:p>
            <a:pPr>
              <a:defRPr sz="1600"/>
            </a:pPr>
            <a:r>
              <a:t>It measures influence, not just volume. A node is important if other important nodes email it.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RESULTS:</a:t>
            </a:r>
          </a:p>
          <a:p>
            <a:pPr>
              <a:defRPr sz="1600"/>
            </a:pPr>
            <a:r>
              <a:t>- The top influencers are often different from the top spammers.</a:t>
            </a:r>
          </a:p>
          <a:p>
            <a:pPr>
              <a:defRPr sz="1600"/>
            </a:pPr>
            <a:r>
              <a:t>- These nodes represent the 'Social Capital' of the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Detection</a:t>
            </a:r>
          </a:p>
        </p:txBody>
      </p:sp>
      <p:pic>
        <p:nvPicPr>
          <p:cNvPr id="3" name="Picture 2" descr="comm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WHAT IS A COMMUNITY?</a:t>
            </a:r>
          </a:p>
          <a:p>
            <a:pPr>
              <a:defRPr sz="1600"/>
            </a:pPr>
            <a:r>
              <a:t>A group of nodes densely connected internally but sparsely connected to the outside.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CONTEXT:</a:t>
            </a:r>
          </a:p>
          <a:p>
            <a:pPr>
              <a:defRPr sz="1600"/>
            </a:pPr>
            <a:r>
              <a:t>These likely represent departments, project teams, or research labs working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Resilience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Hypothesis: Does the network break if the Top Sender (Hub) is removed?</a:t>
            </a:r>
          </a:p>
          <a:p>
            <a:pPr>
              <a:defRPr sz="2000"/>
            </a:pPr>
            <a:r>
              <a:t> </a:t>
            </a:r>
          </a:p>
          <a:p>
            <a:pPr>
              <a:defRPr sz="2000"/>
            </a:pPr>
            <a:r>
              <a:t>Experiment:</a:t>
            </a:r>
          </a:p>
          <a:p>
            <a:pPr>
              <a:defRPr sz="2000"/>
            </a:pPr>
            <a:r>
              <a:t>1. Measured size of the Core (Largest Strongly Connected Component).</a:t>
            </a:r>
          </a:p>
          <a:p>
            <a:pPr>
              <a:defRPr sz="2000"/>
            </a:pPr>
            <a:r>
              <a:t>2. Removed Node #0 (Top Sender).</a:t>
            </a:r>
          </a:p>
          <a:p>
            <a:pPr>
              <a:defRPr sz="2000"/>
            </a:pPr>
            <a:r>
              <a:t>3. Recalculated Core size.</a:t>
            </a:r>
          </a:p>
          <a:p>
            <a:pPr>
              <a:defRPr sz="2000"/>
            </a:pPr>
            <a:r>
              <a:t> </a:t>
            </a:r>
          </a:p>
          <a:p>
            <a:pPr>
              <a:defRPr sz="2000"/>
            </a:pPr>
            <a:r>
              <a:t>Result:</a:t>
            </a:r>
          </a:p>
          <a:p>
            <a:pPr>
              <a:defRPr sz="2000"/>
            </a:pPr>
            <a:r>
              <a:t>The Core size remained stable.</a:t>
            </a:r>
          </a:p>
          <a:p>
            <a:pPr>
              <a:defRPr sz="2000"/>
            </a:pPr>
            <a:r>
              <a:t> </a:t>
            </a:r>
          </a:p>
          <a:p>
            <a:pPr>
              <a:defRPr sz="2000"/>
            </a:pPr>
            <a:r>
              <a:t>Conclusion:</a:t>
            </a:r>
          </a:p>
          <a:p>
            <a:pPr>
              <a:defRPr sz="2000"/>
            </a:pPr>
            <a:r>
              <a:t>The network is ROBUST. Communication relies on multiple pathways, not just one central figure.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network is 'Scale-Free': A few hubs dominate, but the majority have few connections.</a:t>
            </a:r>
          </a:p>
          <a:p>
            <a:pPr>
              <a:defRPr sz="2000"/>
            </a:pPr>
            <a:r>
              <a:t>Clear Hierarchy: Distinct separation between information sources (Senders) and sinks (Receivers).</a:t>
            </a:r>
          </a:p>
          <a:p>
            <a:pPr>
              <a:defRPr sz="2000"/>
            </a:pPr>
            <a:r>
              <a:t>Robustness: The institution's communication flow survives the loss of key players.</a:t>
            </a:r>
          </a:p>
          <a:p>
            <a:pPr>
              <a:defRPr sz="2000"/>
            </a:pPr>
            <a:r>
              <a:t>Communities: Distinct subgroups exist, reflecting the departmental structure of the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